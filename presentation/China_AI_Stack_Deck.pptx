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565C67"/>
                </a:solidFill>
                <a:latin typeface="Consolas"/>
              </a:rPr>
              <a:t>INDIGENOUS AI ECOSYSTEM   ·   DATA AS-OF MID-2026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C02A1B"/>
                </a:solidFill>
                <a:latin typeface="Calibri"/>
              </a:rPr>
              <a:t>The Stack China Is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81A1F"/>
                </a:solidFill>
                <a:latin typeface="Calibri"/>
              </a:rPr>
              <a:t>A value-chain map of China's indigenous AI ecosystem — where capability, capital and captive demand meet, and where a professional investor can (and cannot) get exposure.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8A919C"/>
                </a:solidFill>
                <a:latin typeface="Consolas"/>
              </a:rPr>
              <a:t>Prepared for financial-market experts, economists &amp; industry analysts · Every figure carries a source ID + A–D confidence grade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THE THESIS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One line, then the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81A1F"/>
                </a:solidFill>
                <a:latin typeface="Calibri"/>
              </a:rPr>
              <a:t>China is building a PARALLEL, vertically-indigenized AI stack under export-control pressure — one to several years behind the US frontier at almost every layer, but with the direction, coordination and capital to create a distinct investable ecosystem whose value is migrating to hardware, power and embodied AI.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565C67"/>
                </a:solidFill>
                <a:latin typeface="Calibri"/>
              </a:rPr>
              <a:t>Constrained:  lithography is the binding chokepoint · software (CUDA) the deepest gap (3–5+ yr) · compute rationed (~2.5 GW inference).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565C67"/>
                </a:solidFill>
                <a:latin typeface="Calibri"/>
              </a:rPr>
              <a:t>Working:  a system-level bet (lose at the chip, win at the rack) · power, the one clear edge · a 'slow-bull' IPO wave as the 2026 catalyst.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WHY IT'S ITS OWN UNIVERSE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Two doctrines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81A1F"/>
                </a:solidFill>
                <a:latin typeface="Calibri"/>
              </a:rPr>
              <a:t>United States — a race to superintelligence:  frontier labs treat a few months' lead as potentially permanent; effort concentrates on the frontier model.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C02A1B"/>
                </a:solidFill>
                <a:latin typeface="Calibri"/>
              </a:rPr>
              <a:t>China — AI as infrastructure:  like electricity or water, to be diffused across the whole economy, with a pronounced tilt to the PHYSICAL world (manufacturing, robotics).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565C67"/>
                </a:solidFill>
                <a:latin typeface="Calibri"/>
              </a:rPr>
              <a:t>This sets where capital flows (systems &amp; diffusion, not only frontier training), and why China tolerates a chip deficit while racing on rack-scale systems, power and embodied AI. Export controls reframed every dependency as a weaponizable vulnerability — so China indigenizes every choke 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THE MAP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04 · 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The stack, bottom-up — and China's position</a:t>
            </a:r>
          </a:p>
        </p:txBody>
      </p:sp>
      <p:pic>
        <p:nvPicPr>
          <p:cNvPr id="5" name="Picture 4" descr="01_value_chai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783080"/>
            <a:ext cx="8595360" cy="6320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8A919C"/>
                </a:solidFill>
                <a:latin typeface="Consolas"/>
              </a:rPr>
              <a:t>Highlighted layers (L1 equipment · L4 chips · L9 physical AI) are where the report concentrates.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MACRO FRAME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A low compute base — and prices are turning</a:t>
            </a:r>
          </a:p>
        </p:txBody>
      </p:sp>
      <p:pic>
        <p:nvPicPr>
          <p:cNvPr id="5" name="Picture 4" descr="02_supply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011680"/>
            <a:ext cx="7498079" cy="30772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8A919C"/>
                </a:solidFill>
                <a:latin typeface="Consolas"/>
              </a:rPr>
              <a:t>After years of discounting, Alibaba/Baidu/Tencent RAISED AI-compute list prices in 2026 — compute, not demand, is the binding constraint. REF-BW-01/SANDS-01.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L1 · THE BINDING CONSTRAINT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Without EUV, everything upstream is rationed</a:t>
            </a:r>
          </a:p>
        </p:txBody>
      </p:sp>
      <p:pic>
        <p:nvPicPr>
          <p:cNvPr id="5" name="Picture 4" descr="03_yield_du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2011680"/>
            <a:ext cx="8412480" cy="272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8A919C"/>
                </a:solidFill>
                <a:latin typeface="Consolas"/>
              </a:rPr>
              <a:t>Indigenous EUV light source ~100–150W mid-2025 vs &gt;250W needed for HVM — the '2028 goal' is a lab prototype, not parity. WEB-014/007.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L4 · L5 · THE CENTRAL BATTLEGROUND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Lose at the chip, win at the 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81A1F"/>
                </a:solidFill>
                <a:latin typeface="Calibri"/>
              </a:rPr>
              <a:t>Device level:  Ascend 910C ≈ 60% of an H100 on inference (DeepSeek's own benchmark) — ~1–2 generations behind.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81A1F"/>
                </a:solidFill>
                <a:latin typeface="Calibri"/>
              </a:rPr>
              <a:t>System level:  CloudMatrix / Atlas 950 lash up to 8,192 NPUs into one logical machine (16 PB/s interconnect), competing with Nvidia's GB200 NVL72 at the rack — at ~4× the power.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C02A1B"/>
                </a:solidFill>
                <a:latin typeface="Calibri"/>
              </a:rPr>
              <a:t>The deep moat is SOFTWARE:  CANN/MindSpore vs CUDA is a 3–5+ year gap, even as Huawei open-sources CANN and DeepSeek/Zhipu train without Nvidia.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565C67"/>
                </a:solidFill>
                <a:latin typeface="Calibri"/>
              </a:rPr>
              <a:t>Demand engine:  state-DC domestic-chip rules escalated 50% → full foreign-accelerator ban → ≥80%-domestic national grid. (Nvidia's China share reporting is unreconciled.)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L0 · THE STRUCTURAL EDGE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Power is the one unambiguous advantage</a:t>
            </a:r>
          </a:p>
        </p:txBody>
      </p:sp>
      <p:pic>
        <p:nvPicPr>
          <p:cNvPr id="5" name="Picture 4" descr="04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057400"/>
            <a:ext cx="7498079" cy="29081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8A919C"/>
                </a:solidFill>
                <a:latin typeface="Consolas"/>
              </a:rPr>
              <a:t>But it is NECESSARY, NOT SUFFICIENT — the payoff is gated on domestic silicon closing the compute gap (a D-grade inference). Cleanest proxy: CATL.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L7 · L8 · MODELS &amp; DIFFUSION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Commoditize intelligence — on purpose</a:t>
            </a:r>
          </a:p>
        </p:txBody>
      </p:sp>
      <p:pic>
        <p:nvPicPr>
          <p:cNvPr id="5" name="Picture 4" descr="06_token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057400"/>
            <a:ext cx="7680960" cy="2732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8A919C"/>
                </a:solidFill>
                <a:latin typeface="Consolas"/>
              </a:rPr>
              <a:t>Chinese open-weight models take up to ~55% of OpenRouter tokens. Strategy: make good-enough intelligence cheap infrastructure — pressuring Western labs' pricing.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SYNTHESIS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China-vs-US scorecard: capability × access</a:t>
            </a:r>
          </a:p>
        </p:txBody>
      </p:sp>
      <p:pic>
        <p:nvPicPr>
          <p:cNvPr id="5" name="Picture 4" descr="08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783080"/>
            <a:ext cx="6766560" cy="44093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8A919C"/>
                </a:solidFill>
                <a:latin typeface="Consolas"/>
              </a:rPr>
              <a:t>Green = ahead / open · red = behind / closed. The purest exposure (L4 chips) is the least accessible to US capital.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CAPITAL MARKETS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The 'slow-bull' IPO wave is the 2026 catalyst</a:t>
            </a:r>
          </a:p>
        </p:txBody>
      </p:sp>
      <p:pic>
        <p:nvPicPr>
          <p:cNvPr id="5" name="Picture 4" descr="07_ipo_p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2011680"/>
            <a:ext cx="7863840" cy="30035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8A919C"/>
                </a:solidFill>
                <a:latin typeface="Consolas"/>
              </a:rPr>
              <a:t>Montage's A/H premium inverted (H from a 44% discount to a premium). CXMT (~$4.3bn) &amp; YMTC are the next, much larger tests.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DECISIVE FOR ALLOCATORS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Investability ≠ 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C02A1B"/>
                </a:solidFill>
                <a:latin typeface="Calibri"/>
              </a:rPr>
              <a:t>Treasury's OISP now overlaps Entity-List flags: the highest-momentum GPU names trade freely in Hong Kong yet are effectively CLOSED to US capital.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2C7A4B"/>
                </a:solidFill>
                <a:latin typeface="Calibri"/>
              </a:rPr>
              <a:t>Open · high-conviction:  Alibaba, Tencent, Montage, CATL, Baidu.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A96E28"/>
                </a:solidFill>
                <a:latin typeface="Calibri"/>
              </a:rPr>
              <a:t>Access-constrained:  NAURA, AMEC, ACM, SMIC, Hua Hong, Cambricon (HK lines / Connect where eligible).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81A1F"/>
                </a:solidFill>
                <a:latin typeface="Calibri"/>
              </a:rPr>
              <a:t>Closed / pipeline:  Moore Threads, MetaX, Biren, Kunlunxin, Huawei, ByteDance; CXMT/YMTC (IPO).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565C67"/>
                </a:solidFill>
                <a:latin typeface="Calibri"/>
              </a:rPr>
              <a:t>Cleaner embodied-AI access:  WeRide, Pony.ai, Momenta, UBTech, Horizon Robotics.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SCENARIOS &amp; RISK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2027 / 2030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181A1F"/>
                </a:solidFill>
                <a:latin typeface="Calibri"/>
              </a:rPr>
              <a:t>Base:  uneven indigenization — foundry/memory/interconnect/power progress, EUV lags; competitive rack-scale systems &amp; open models; equities compound off a low base, high dispersion.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2C7A4B"/>
                </a:solidFill>
                <a:latin typeface="Calibri"/>
              </a:rPr>
              <a:t>Bull:  an EUV or HBM breakthrough closes the compute gap; the power edge converts; champions re-rate toward global peers.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C02A1B"/>
                </a:solidFill>
                <a:latin typeface="Calibri"/>
              </a:rPr>
              <a:t>Bear:  EUV stalls, yields stay low, mandate outruns capability; a Taiwan / rare-earth flashpoint or OISP tightening strands foreign capital; policy-inflated multiples de-rate.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565C67"/>
                </a:solidFill>
                <a:latin typeface="Calibri"/>
              </a:rPr>
              <a:t>Key gating risk:  technology failure at EUV / HBM.  Most underappreciated practical risk:  the Entity-List + OISP overlay stranding US capital.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PART II · DEMAND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Not all 'China-AI' is a bet on China</a:t>
            </a:r>
          </a:p>
        </p:txBody>
      </p:sp>
      <p:pic>
        <p:nvPicPr>
          <p:cNvPr id="5" name="Picture 4" descr="13_demand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874519"/>
            <a:ext cx="8778240" cy="39233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8A919C"/>
                </a:solidFill>
                <a:latin typeface="Consolas"/>
              </a:rPr>
              <a:t>The diversifying, low-correlation thesis applies ONLY to the domestic-substitution bucket. Global-demand names price off the world AI cycle.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PART II · ECONOMICS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Market share ≠ revenue</a:t>
            </a:r>
          </a:p>
        </p:txBody>
      </p:sp>
      <p:pic>
        <p:nvPicPr>
          <p:cNvPr id="5" name="Picture 4" descr="10_model_e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2011680"/>
            <a:ext cx="7863840" cy="29177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8A919C"/>
                </a:solidFill>
                <a:latin typeface="Consolas"/>
              </a:rPr>
              <a:t>Open models win token share but earn little directly. DeepSeek/Moonshot/ByteDance revenue not reliably disclosed — declined to state. Baidu 6-K: AI-Apps revenue ~flat YoY.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PART II · ACCESS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The US is the outlier, not the 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2C7A4B"/>
                </a:solidFill>
                <a:latin typeface="Calibri"/>
              </a:rPr>
              <a:t>EU · UK · Japan · Korea · Singapore · Gulf:  NO domicile-specific legal bar on most listed China-AI names (incl. Entity-Listed GPU IPOs) — access gated by market mechanics (Stock Connect, QFII, STAR pro-only), not law.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C02A1B"/>
                </a:solidFill>
                <a:latin typeface="Calibri"/>
              </a:rPr>
              <a:t>United States:  the exception (Entity List + OISP; small passive-index holdings exempt).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81A1F"/>
                </a:solidFill>
                <a:latin typeface="Calibri"/>
              </a:rPr>
              <a:t>Taiwan:  the one symmetric legal barrier (restricts its own capital into mainland tech). Japan's GPIF voluntarily excludes China A (2025–30).</a:t>
            </a:r>
          </a:p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565C67"/>
                </a:solidFill>
                <a:latin typeface="Calibri"/>
              </a:rPr>
              <a:t>Swing factor:  a single-sourced report that Beijing may curb foreign access to its AI firms — the first China-side capital wall if enacted (monitor).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PART II · INDEX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You may already own the stack</a:t>
            </a:r>
          </a:p>
        </p:txBody>
      </p:sp>
      <p:pic>
        <p:nvPicPr>
          <p:cNvPr id="5" name="Picture 4" descr="11_index_w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2011680"/>
            <a:ext cx="7863840" cy="29234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8A919C"/>
                </a:solidFill>
                <a:latin typeface="Consolas"/>
              </a:rPr>
              <a:t>Tencent+Alibaba ≈ 23.5% of MSCI China; SMIC+Tencent ≈ 17.9% of HSTECH; Innolight the top CSI-300 weight. Passive China exposure already carries heavy AI-stack beta.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PART II · TALENT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81A1F"/>
                </a:solidFill>
                <a:latin typeface="Calibri"/>
              </a:rPr>
              <a:t>Leads on research output; has exported its talent</a:t>
            </a:r>
          </a:p>
        </p:txBody>
      </p:sp>
      <p:pic>
        <p:nvPicPr>
          <p:cNvPr id="5" name="Picture 4" descr="12_tal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2011680"/>
            <a:ext cx="7863840" cy="27929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8A919C"/>
                </a:solidFill>
                <a:latin typeface="Consolas"/>
              </a:rPr>
              <a:t>China: 69.7% of AI patent filings, 38% of elite researchers by origin — but historically 72% went to US labs. Migration into the US fell ~89% since 2017 (reflow signal).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502920" cy="54864"/>
          </a:xfrm>
          <a:prstGeom prst="rect">
            <a:avLst/>
          </a:prstGeom>
          <a:solidFill>
            <a:srgbClr val="C0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02A1B"/>
                </a:solidFill>
                <a:latin typeface="Consolas"/>
              </a:rPr>
              <a:t>DELIVERABLES &amp; METHOD   </a:t>
            </a:r>
            <a:r>
              <a:rPr sz="1100" b="0" i="0">
                <a:solidFill>
                  <a:srgbClr val="8A919C"/>
                </a:solidFill>
                <a:latin typeface="Consolas"/>
              </a:rPr>
              <a:t>·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81A1F"/>
                </a:solidFill>
                <a:latin typeface="Calibri"/>
              </a:rPr>
              <a:t>What backs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81A1F"/>
                </a:solidFill>
                <a:latin typeface="Calibri"/>
              </a:rPr>
              <a:t>Report — long-form value-chain map + Part II (demand, economics, access) + glossary; 12 charts.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81A1F"/>
                </a:solidFill>
                <a:latin typeface="Calibri"/>
              </a:rPr>
              <a:t>Database — 43 companies, metrics, policy/funding, model &amp; chip catalogs, company_reference (ISIN/GICS/index), 100+ sources.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81A1F"/>
                </a:solidFill>
                <a:latin typeface="Calibri"/>
              </a:rPr>
              <a:t>Evidence — 12 analyst pod memos across two rounds, plus an adversarial red-team review.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565C67"/>
                </a:solidFill>
                <a:latin typeface="Calibri"/>
              </a:rPr>
              <a:t>Every figure is source-tagged and A–D confidence-graded. Key open questions are documented, not smoothed: Nvidia's true China share, CXMT/YMTC valuations, indigenous-EUV timeline, model-lab revenue.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8A919C"/>
                </a:solidFill>
                <a:latin typeface="Calibri"/>
              </a:rPr>
              <a:t>Reference scaffolding: Bridgewater ×3, Sands Capital, Exponential View. Analysis,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